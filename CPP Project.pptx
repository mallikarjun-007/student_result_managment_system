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84A053A-5974-48AD-5545-7942EF012767}">
          <p14:sldIdLst>
            <p14:sldId id="256"/>
            <p14:sldId id="257"/>
          </p14:sldIdLst>
        </p14:section>
        <p14:section name="Progress" id="{6F98CE73-019C-89AF-E488-660AEF05098E}">
          <p14:sldIdLst>
            <p14:sldId id="258"/>
            <p14:sldId id="259"/>
            <p14:sldId id="260"/>
            <p14:sldId id="261"/>
          </p14:sldIdLst>
        </p14:section>
        <p14:section name="Concepts" id="{36DC18D9-5D0C-08A9-EF7B-E6383E565428}">
          <p14:sldIdLst>
            <p14:sldId id="262"/>
            <p14:sldId id="263"/>
          </p14:sldIdLst>
        </p14:section>
        <p14:section name="Team and next steps" id="{C240024B-5AC9-7507-F629-E65C328DBE65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Student Result System that calculates total, percentage and grade for UG and PG students using OOP in C++. Replace the team member names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of Review-1: the problem, the objectives, and the project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class hierarchy and the four completed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function with a sample value. Marks are protected (encapsulation); getGrade() is pure virtual (abstraction).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same percentage gives different grades because each derived class overrides getGrade().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program flow from input to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concept is paired with the exact line of code where it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program live or show this captured output. Note that the output spacing in the terminal uses tab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the split to match who actually did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input validation is not yet implemented; it is the main item for Review-3.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REVIEW-2  |  IMPLEMENTATION PROGRESS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Result System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Object-Oriented Programming in C++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Encapsulation  ·  Inheritance  ·  Polymorphism  ·  Abstraction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Team: Lakshmana, Mallikarjun, Sirisha, Likitha</a:t>
            </a:r>
            <a:endParaRPr lang="en-US" sz="1400" dirty="0"/>
          </a:p>
        </p:txBody>
      </p:sp>
      <p:sp>
        <p:nvSpPr>
          <p:cNvPr id="7" name="CodeCard"/>
          <p:cNvSpPr/>
          <p:nvPr/>
        </p:nvSpPr>
        <p:spPr>
          <a:xfrm>
            <a:off x="7315200" y="1188720"/>
            <a:ext cx="4206240" cy="4206240"/>
          </a:xfrm>
          <a:prstGeom prst="roundRect">
            <a:avLst>
              <a:gd name="adj" fmla="val 217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35240" y="146304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{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name;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marks[3];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string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getGrade() = 0;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virtual void show();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UGStudent 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Student { ... };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Recap</a:t>
            </a:r>
            <a:endParaRPr lang="en-US" sz="3400" dirty="0"/>
          </a:p>
        </p:txBody>
      </p:sp>
      <p:sp>
        <p:nvSpPr>
          <p:cNvPr id="3" name="ProblemCard"/>
          <p:cNvSpPr/>
          <p:nvPr/>
        </p:nvSpPr>
        <p:spPr>
          <a:xfrm>
            <a:off x="548640" y="1554480"/>
            <a:ext cx="51206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Calculating and grading student results by hand is slow and error-prone, and UG and PG students follow different grading rules.</a:t>
            </a:r>
            <a:endParaRPr lang="en-US" sz="1600" dirty="0"/>
          </a:p>
        </p:txBody>
      </p:sp>
      <p:sp>
        <p:nvSpPr>
          <p:cNvPr id="6" name="Stat0"/>
          <p:cNvSpPr/>
          <p:nvPr/>
        </p:nvSpPr>
        <p:spPr>
          <a:xfrm>
            <a:off x="548640" y="3931920"/>
            <a:ext cx="1554480" cy="20116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classes</a:t>
            </a:r>
            <a:endParaRPr lang="en-US" sz="1400" dirty="0"/>
          </a:p>
        </p:txBody>
      </p:sp>
      <p:sp>
        <p:nvSpPr>
          <p:cNvPr id="9" name="Stat1"/>
          <p:cNvSpPr/>
          <p:nvPr/>
        </p:nvSpPr>
        <p:spPr>
          <a:xfrm>
            <a:off x="2331720" y="3931920"/>
            <a:ext cx="1554480" cy="20116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5120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student types</a:t>
            </a:r>
            <a:endParaRPr lang="en-US" sz="1400" dirty="0"/>
          </a:p>
        </p:txBody>
      </p:sp>
      <p:sp>
        <p:nvSpPr>
          <p:cNvPr id="12" name="Stat2"/>
          <p:cNvSpPr/>
          <p:nvPr/>
        </p:nvSpPr>
        <p:spPr>
          <a:xfrm>
            <a:off x="4114800" y="3931920"/>
            <a:ext cx="1554480" cy="20116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5120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subjects each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6" name="Obj0"/>
          <p:cNvSpPr/>
          <p:nvPr/>
        </p:nvSpPr>
        <p:spPr>
          <a:xfrm>
            <a:off x="6126480" y="2057400"/>
            <a:ext cx="54864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3317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1945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Read the name, three subject marks and student type (UG / PG).</a:t>
            </a:r>
            <a:endParaRPr lang="en-US" sz="1600" dirty="0"/>
          </a:p>
        </p:txBody>
      </p:sp>
      <p:sp>
        <p:nvSpPr>
          <p:cNvPr id="19" name="Obj1"/>
          <p:cNvSpPr/>
          <p:nvPr/>
        </p:nvSpPr>
        <p:spPr>
          <a:xfrm>
            <a:off x="6126480" y="3383280"/>
            <a:ext cx="54864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36576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35204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Compute total, percentage and grade for every student.</a:t>
            </a:r>
            <a:endParaRPr lang="en-US" sz="1600" dirty="0"/>
          </a:p>
        </p:txBody>
      </p:sp>
      <p:sp>
        <p:nvSpPr>
          <p:cNvPr id="22" name="Obj2"/>
          <p:cNvSpPr/>
          <p:nvPr/>
        </p:nvSpPr>
        <p:spPr>
          <a:xfrm>
            <a:off x="6126480" y="4709160"/>
            <a:ext cx="54864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49834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4846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Apply separate grading rules for UG and PG using inheritance and polymorphism.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Modules Completed So Far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0" y="2743200"/>
            <a:ext cx="0" cy="548640"/>
          </a:xfrm>
          <a:prstGeom prst="line">
            <a:avLst/>
          </a:prstGeom>
          <a:noFill/>
          <a:ln w="25400">
            <a:solidFill>
              <a:srgbClr val="6C8E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3291840"/>
            <a:ext cx="3840480" cy="0"/>
          </a:xfrm>
          <a:prstGeom prst="line">
            <a:avLst/>
          </a:prstGeom>
          <a:noFill/>
          <a:ln w="25400">
            <a:solidFill>
              <a:srgbClr val="6C8E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3291840"/>
            <a:ext cx="0" cy="548640"/>
          </a:xfrm>
          <a:prstGeom prst="line">
            <a:avLst/>
          </a:prstGeom>
          <a:noFill/>
          <a:ln w="25400">
            <a:solidFill>
              <a:srgbClr val="6C8E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3291840"/>
            <a:ext cx="0" cy="548640"/>
          </a:xfrm>
          <a:prstGeom prst="line">
            <a:avLst/>
          </a:prstGeom>
          <a:noFill/>
          <a:ln w="25400">
            <a:solidFill>
              <a:srgbClr val="6C8EAD"/>
            </a:solidFill>
            <a:prstDash val="solid"/>
          </a:ln>
        </p:spPr>
      </p:sp>
      <p:sp>
        <p:nvSpPr>
          <p:cNvPr id="7" name="Box Student"/>
          <p:cNvSpPr/>
          <p:nvPr/>
        </p:nvSpPr>
        <p:spPr>
          <a:xfrm>
            <a:off x="2377440" y="1645920"/>
            <a:ext cx="292608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6459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Student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abstract base class</a:t>
            </a:r>
            <a:endParaRPr lang="en-US" sz="2000" dirty="0"/>
          </a:p>
        </p:txBody>
      </p:sp>
      <p:sp>
        <p:nvSpPr>
          <p:cNvPr id="9" name="Box UGStudent"/>
          <p:cNvSpPr/>
          <p:nvPr/>
        </p:nvSpPr>
        <p:spPr>
          <a:xfrm>
            <a:off x="548640" y="3840480"/>
            <a:ext cx="274320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UGStudent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derived class</a:t>
            </a:r>
            <a:endParaRPr lang="en-US" sz="2000" dirty="0"/>
          </a:p>
        </p:txBody>
      </p:sp>
      <p:sp>
        <p:nvSpPr>
          <p:cNvPr id="11" name="Box PGStudent"/>
          <p:cNvSpPr/>
          <p:nvPr/>
        </p:nvSpPr>
        <p:spPr>
          <a:xfrm>
            <a:off x="4389120" y="3840480"/>
            <a:ext cx="274320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3840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PGStudent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derived class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UGStudent and PGStudent inherit from Student and override getGrade().</a:t>
            </a:r>
            <a:endParaRPr lang="en-US" sz="1400" dirty="0"/>
          </a:p>
        </p:txBody>
      </p:sp>
      <p:sp>
        <p:nvSpPr>
          <p:cNvPr id="14" name="ChecklistCard"/>
          <p:cNvSpPr/>
          <p:nvPr/>
        </p:nvSpPr>
        <p:spPr>
          <a:xfrm>
            <a:off x="7680960" y="1645920"/>
            <a:ext cx="3931920" cy="429768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Status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42316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395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Student base class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F7A44"/>
                </a:solidFill>
              </a:rPr>
              <a:t>Completed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29184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264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UGStudent class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F7A44"/>
                </a:solidFill>
              </a:rPr>
              <a:t>Completed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416052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133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PGStudent class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F7A44"/>
                </a:solidFill>
              </a:rPr>
              <a:t>Completed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5029200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5001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main() driver program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4F7A44"/>
                </a:solidFill>
              </a:rPr>
              <a:t>Completed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Student Class: Code Explained</a:t>
            </a:r>
            <a:endParaRPr lang="en-US" sz="3400" dirty="0"/>
          </a:p>
        </p:txBody>
      </p:sp>
      <p:sp>
        <p:nvSpPr>
          <p:cNvPr id="3" name="CodePanel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{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marks[3];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Student(string n, int m1,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m2, int m3);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getTotal();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getPercentage();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string getGrade() = 0;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void show();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~Student() {}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5" name="Fn0"/>
          <p:cNvSpPr/>
          <p:nvPr/>
        </p:nvSpPr>
        <p:spPr>
          <a:xfrm>
            <a:off x="6583680" y="1554480"/>
            <a:ext cx="50292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12280" y="167335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getTotal()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Adds the three subject marks.  85 + 78 + 90 = 253</a:t>
            </a:r>
            <a:endParaRPr lang="en-US" sz="1600" dirty="0"/>
          </a:p>
        </p:txBody>
      </p:sp>
      <p:sp>
        <p:nvSpPr>
          <p:cNvPr id="7" name="Fn1"/>
          <p:cNvSpPr/>
          <p:nvPr/>
        </p:nvSpPr>
        <p:spPr>
          <a:xfrm>
            <a:off x="6583680" y="2724912"/>
            <a:ext cx="50292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284378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getPercentage()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÷ 3.0 using float division.  253 ÷ 3 = 84.33</a:t>
            </a:r>
            <a:endParaRPr lang="en-US" sz="1600" dirty="0"/>
          </a:p>
        </p:txBody>
      </p:sp>
      <p:sp>
        <p:nvSpPr>
          <p:cNvPr id="9" name="Fn2"/>
          <p:cNvSpPr/>
          <p:nvPr/>
        </p:nvSpPr>
        <p:spPr>
          <a:xfrm>
            <a:off x="6583680" y="3895344"/>
            <a:ext cx="50292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401421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getGrade()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Pure virtual: UG and PG each define their own rules.</a:t>
            </a:r>
            <a:endParaRPr lang="en-US" sz="1600" dirty="0"/>
          </a:p>
        </p:txBody>
      </p:sp>
      <p:sp>
        <p:nvSpPr>
          <p:cNvPr id="11" name="Fn3"/>
          <p:cNvSpPr/>
          <p:nvPr/>
        </p:nvSpPr>
        <p:spPr>
          <a:xfrm>
            <a:off x="6583680" y="5065776"/>
            <a:ext cx="5029200" cy="987552"/>
          </a:xfrm>
          <a:prstGeom prst="roundRect">
            <a:avLst>
              <a:gd name="adj" fmla="val 92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51846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show()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Virtual: prints name, total, percentage and grade.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Grading Logic: UG vs PG</a:t>
            </a:r>
            <a:endParaRPr lang="en-US" sz="3400" dirty="0"/>
          </a:p>
        </p:txBody>
      </p:sp>
      <p:graphicFrame>
        <p:nvGraphicFramePr>
          <p:cNvPr id="6" name="Grad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7665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UG (percentage)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PG (percentage)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75 or above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80 or above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60 to 74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65 to 79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40 to 59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50 to 64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Fail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Below 40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2302F"/>
                          </a:solidFill>
                        </a:rPr>
                        <a:t>Below 50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iffCard"/>
          <p:cNvSpPr/>
          <p:nvPr/>
        </p:nvSpPr>
        <p:spPr>
          <a:xfrm>
            <a:off x="7772400" y="1645920"/>
            <a:ext cx="3840480" cy="36576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Same marks, different grade</a:t>
            </a:r>
            <a:endParaRPr lang="en-US" sz="1600" dirty="0"/>
          </a:p>
        </p:txBody>
      </p:sp>
      <p:sp>
        <p:nvSpPr>
          <p:cNvPr id="3" name="Text 3"/>
          <p:cNvSpPr txBox="1"/>
          <p:nvPr/>
        </p:nvSpPr>
        <p:spPr>
          <a:xfrm>
            <a:off x="804672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UGStudent  →  Grade A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PGStudent  →  Grade B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389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Each class overrides getGrade() with its own thresholds.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main() Works</a:t>
            </a:r>
            <a:endParaRPr lang="en-US" sz="3400" dirty="0"/>
          </a:p>
        </p:txBody>
      </p:sp>
      <p:sp>
        <p:nvSpPr>
          <p:cNvPr id="3" name="Step0"/>
          <p:cNvSpPr/>
          <p:nvPr/>
        </p:nvSpPr>
        <p:spPr>
          <a:xfrm>
            <a:off x="548640" y="1645920"/>
            <a:ext cx="1993392" cy="32004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 count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Ask how many students to process.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42032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tep1"/>
          <p:cNvSpPr/>
          <p:nvPr/>
        </p:nvSpPr>
        <p:spPr>
          <a:xfrm>
            <a:off x="2816352" y="1645920"/>
            <a:ext cx="1993392" cy="32004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44952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44952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 details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Name, three marks and type (1 = UG, 2 = PG).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09744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tep2"/>
          <p:cNvSpPr/>
          <p:nvPr/>
        </p:nvSpPr>
        <p:spPr>
          <a:xfrm>
            <a:off x="5084064" y="1645920"/>
            <a:ext cx="1993392" cy="32004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12664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12664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Create objects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UGStudent or new PGStudent, stored in vector&lt;Student*&gt;.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77456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tep3"/>
          <p:cNvSpPr/>
          <p:nvPr/>
        </p:nvSpPr>
        <p:spPr>
          <a:xfrm>
            <a:off x="7351776" y="1645920"/>
            <a:ext cx="1993392" cy="32004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0376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580376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Show results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80376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s-&gt;show() calls the right getGrade() at runtime.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4516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tep4"/>
          <p:cNvSpPr/>
          <p:nvPr/>
        </p:nvSpPr>
        <p:spPr>
          <a:xfrm>
            <a:off x="9619488" y="1645920"/>
            <a:ext cx="1993392" cy="3200400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4808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848088" y="2606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Clean up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301752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delete each object; the virtual destructor frees it correctly.</a:t>
            </a:r>
            <a:endParaRPr lang="en-US" sz="1400" dirty="0"/>
          </a:p>
        </p:txBody>
      </p:sp>
      <p:sp>
        <p:nvSpPr>
          <p:cNvPr id="27" name="FlowBand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One list of base-class pointers handles both UG and PG students.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C++ Concepts Demonstrated</a:t>
            </a:r>
            <a:endParaRPr lang="en-US" sz="3400" dirty="0"/>
          </a:p>
        </p:txBody>
      </p:sp>
      <p:sp>
        <p:nvSpPr>
          <p:cNvPr id="3" name="Concept0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Encapsulation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 is protected and reached through member functions.</a:t>
            </a:r>
            <a:endParaRPr lang="en-US" sz="1400" dirty="0"/>
          </a:p>
        </p:txBody>
      </p:sp>
      <p:sp>
        <p:nvSpPr>
          <p:cNvPr id="6" name="Chip0"/>
          <p:cNvSpPr/>
          <p:nvPr/>
        </p:nvSpPr>
        <p:spPr>
          <a:xfrm>
            <a:off x="731520" y="301752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 int marks[3];</a:t>
            </a:r>
            <a:endParaRPr lang="en-US" sz="1200" dirty="0"/>
          </a:p>
        </p:txBody>
      </p:sp>
      <p:sp>
        <p:nvSpPr>
          <p:cNvPr id="8" name="Concept1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Abstraction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Student says what every student must do, not how.</a:t>
            </a:r>
            <a:endParaRPr lang="en-US" sz="1400" dirty="0"/>
          </a:p>
        </p:txBody>
      </p:sp>
      <p:sp>
        <p:nvSpPr>
          <p:cNvPr id="11" name="Chip1"/>
          <p:cNvSpPr/>
          <p:nvPr/>
        </p:nvSpPr>
        <p:spPr>
          <a:xfrm>
            <a:off x="4480560" y="301752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virtual string getGrade() = 0;</a:t>
            </a:r>
            <a:endParaRPr lang="en-US" sz="1200" dirty="0"/>
          </a:p>
        </p:txBody>
      </p:sp>
      <p:sp>
        <p:nvSpPr>
          <p:cNvPr id="13" name="Concept2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Inheritance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194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UG and PG reuse the data and functions of Student.</a:t>
            </a:r>
            <a:endParaRPr lang="en-US" sz="1400" dirty="0"/>
          </a:p>
        </p:txBody>
      </p:sp>
      <p:sp>
        <p:nvSpPr>
          <p:cNvPr id="16" name="Chip2"/>
          <p:cNvSpPr/>
          <p:nvPr/>
        </p:nvSpPr>
        <p:spPr>
          <a:xfrm>
            <a:off x="8229600" y="301752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UGStudent : public Student</a:t>
            </a:r>
            <a:endParaRPr lang="en-US" sz="1200" dirty="0"/>
          </a:p>
        </p:txBody>
      </p:sp>
      <p:sp>
        <p:nvSpPr>
          <p:cNvPr id="18" name="Concept3"/>
          <p:cNvSpPr/>
          <p:nvPr/>
        </p:nvSpPr>
        <p:spPr>
          <a:xfrm>
            <a:off x="548640" y="3840480"/>
            <a:ext cx="3566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Polymorphism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base-class pointer runs the derived version at runtime.</a:t>
            </a:r>
            <a:endParaRPr lang="en-US" sz="1400" dirty="0"/>
          </a:p>
        </p:txBody>
      </p:sp>
      <p:sp>
        <p:nvSpPr>
          <p:cNvPr id="21" name="Chip3"/>
          <p:cNvSpPr/>
          <p:nvPr/>
        </p:nvSpPr>
        <p:spPr>
          <a:xfrm>
            <a:off x="731520" y="530352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303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s-&gt;show();</a:t>
            </a:r>
            <a:endParaRPr lang="en-US" sz="1200" dirty="0"/>
          </a:p>
        </p:txBody>
      </p:sp>
      <p:sp>
        <p:nvSpPr>
          <p:cNvPr id="23" name="Concept4"/>
          <p:cNvSpPr/>
          <p:nvPr/>
        </p:nvSpPr>
        <p:spPr>
          <a:xfrm>
            <a:off x="4297680" y="3840480"/>
            <a:ext cx="3566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Dynamic memory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Objects are created with new and released with delete.</a:t>
            </a:r>
            <a:endParaRPr lang="en-US" sz="1400" dirty="0"/>
          </a:p>
        </p:txBody>
      </p:sp>
      <p:sp>
        <p:nvSpPr>
          <p:cNvPr id="26" name="Chip4"/>
          <p:cNvSpPr/>
          <p:nvPr/>
        </p:nvSpPr>
        <p:spPr>
          <a:xfrm>
            <a:off x="4480560" y="530352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0" y="5303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PGStudent(name,m1,m2,m3)</a:t>
            </a:r>
            <a:endParaRPr lang="en-US" sz="1200" dirty="0"/>
          </a:p>
        </p:txBody>
      </p:sp>
      <p:sp>
        <p:nvSpPr>
          <p:cNvPr id="28" name="Concept5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532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STL and override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vector stores all students; override checks the signature.</a:t>
            </a:r>
            <a:endParaRPr lang="en-US" sz="1400" dirty="0"/>
          </a:p>
        </p:txBody>
      </p:sp>
      <p:sp>
        <p:nvSpPr>
          <p:cNvPr id="31" name="Chip5"/>
          <p:cNvSpPr/>
          <p:nvPr/>
        </p:nvSpPr>
        <p:spPr>
          <a:xfrm>
            <a:off x="8229600" y="5303520"/>
            <a:ext cx="32004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0" y="5303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vector&lt;Student*&gt; students;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Program Output (Sample Run)</a:t>
            </a:r>
            <a:endParaRPr lang="en-US" sz="3400" dirty="0"/>
          </a:p>
        </p:txBody>
      </p:sp>
      <p:sp>
        <p:nvSpPr>
          <p:cNvPr id="3" name="InputPanel"/>
          <p:cNvSpPr/>
          <p:nvPr/>
        </p:nvSpPr>
        <p:spPr>
          <a:xfrm>
            <a:off x="548640" y="1463040"/>
            <a:ext cx="484632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INPUT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students? 3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1 name: Ravi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(3 subjects): 85 78 90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(1-UG, 2-PG): 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2 name: Priya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(3 subjects): 75 78 81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(1-UG, 2-PG): 2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3 name: Kiran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(3 subjects): 35 40 30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(1-UG, 2-PG): 1</a:t>
            </a:r>
            <a:endParaRPr lang="en-US" sz="1200" dirty="0"/>
          </a:p>
        </p:txBody>
      </p:sp>
      <p:sp>
        <p:nvSpPr>
          <p:cNvPr id="6" name="OutputPanel"/>
          <p:cNvSpPr/>
          <p:nvPr/>
        </p:nvSpPr>
        <p:spPr>
          <a:xfrm>
            <a:off x="5669280" y="1463040"/>
            <a:ext cx="594360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OUTPUT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01168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 RESULTS -----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  Total: 253  Percentage: 84.3333  Grade: A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 Total: 234  Percentage: 78       Grade: B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Kiran  Total: 105  Percentage: 35       Grade: Fail</a:t>
            </a:r>
            <a:endParaRPr lang="en-US" sz="1200" dirty="0"/>
          </a:p>
        </p:txBody>
      </p:sp>
      <p:sp>
        <p:nvSpPr>
          <p:cNvPr id="9" name="Result0"/>
          <p:cNvSpPr/>
          <p:nvPr/>
        </p:nvSpPr>
        <p:spPr>
          <a:xfrm>
            <a:off x="548640" y="49377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37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Ravi: 84.33%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UG, 75 or above → A</a:t>
            </a:r>
            <a:endParaRPr lang="en-US" sz="1800" dirty="0"/>
          </a:p>
        </p:txBody>
      </p:sp>
      <p:sp>
        <p:nvSpPr>
          <p:cNvPr id="11" name="Result1"/>
          <p:cNvSpPr/>
          <p:nvPr/>
        </p:nvSpPr>
        <p:spPr>
          <a:xfrm>
            <a:off x="4297680" y="49377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4937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Priya: 78%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PG, needs 80 for A → B</a:t>
            </a:r>
            <a:endParaRPr lang="en-US" sz="1800" dirty="0"/>
          </a:p>
        </p:txBody>
      </p:sp>
      <p:sp>
        <p:nvSpPr>
          <p:cNvPr id="13" name="Result2"/>
          <p:cNvSpPr/>
          <p:nvPr/>
        </p:nvSpPr>
        <p:spPr>
          <a:xfrm>
            <a:off x="8046720" y="49377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4937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Kiran: 35%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UG, below 40 → Fail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Each Member's Contribution</a:t>
            </a:r>
            <a:endParaRPr lang="en-US" sz="3400" dirty="0"/>
          </a:p>
        </p:txBody>
      </p:sp>
      <p:graphicFrame>
        <p:nvGraphicFramePr>
          <p:cNvPr id="10" name="Tea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2302F"/>
                          </a:solidFill>
                        </a:rPr>
                        <a:t>Lakshmana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Student base class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Encapsulation, pure virtual getGrade(), show(), virtual destructor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2302F"/>
                          </a:solidFill>
                        </a:rPr>
                        <a:t>Mallikarjun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UGStudent and PGStudent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Inheritance, override, UG and PG grading rules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2302F"/>
                          </a:solidFill>
                        </a:rPr>
                        <a:t>Sirisha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main() driver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Input handling, vector&lt;Student*&gt;, new and delete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2302F"/>
                          </a:solidFill>
                        </a:rPr>
                        <a:t>Likitha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Testing and documentation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2302F"/>
                          </a:solidFill>
                        </a:rPr>
                        <a:t>Sample runs, output screenshots, PPT and report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Progress and Next Steps</a:t>
            </a:r>
            <a:endParaRPr lang="en-US" sz="3400" dirty="0"/>
          </a:p>
        </p:txBody>
      </p:sp>
      <p:sp>
        <p:nvSpPr>
          <p:cNvPr id="3" name="DoneCard"/>
          <p:cNvSpPr/>
          <p:nvPr/>
        </p:nvSpPr>
        <p:spPr>
          <a:xfrm>
            <a:off x="548640" y="1554480"/>
            <a:ext cx="53949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F7A44"/>
                </a:solidFill>
              </a:rPr>
              <a:t>Completed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hierarchy: Student, UGStudent, PGStudent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Total, percentage and grade calculation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Polymorphic result display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Dynamic memory handling with clean-up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B7F7E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Student Result System  |  Review-2: Implementation Progress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ltSystem">
  <a:themeElements>
    <a:clrScheme name="ResultSystem">
      <a:dk1>
        <a:srgbClr val="12302F"/>
      </a:dk1>
      <a:lt1>
        <a:srgbClr val="FFFFFF"/>
      </a:lt1>
      <a:dk2>
        <a:srgbClr val="0F3D3E"/>
      </a:dk2>
      <a:lt2>
        <a:srgbClr val="EAF3F1"/>
      </a:lt2>
      <a:accent1>
        <a:srgbClr val="F2A541"/>
      </a:accent1>
      <a:accent2>
        <a:srgbClr val="2A9D8F"/>
      </a:accent2>
      <a:accent3>
        <a:srgbClr val="E76F51"/>
      </a:accent3>
      <a:accent4>
        <a:srgbClr val="6C8EAD"/>
      </a:accent4>
      <a:accent5>
        <a:srgbClr val="8AB17D"/>
      </a:accent5>
      <a:accent6>
        <a:srgbClr val="264653"/>
      </a:accent6>
      <a:hlink>
        <a:srgbClr val="2A9D8F"/>
      </a:hlink>
      <a:folHlink>
        <a:srgbClr val="6C8EAD"/>
      </a:folHlink>
    </a:clrScheme>
    <a:fontScheme name="ResultSyst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</Words>
  <Application>Microsoft Office PowerPoint</Application>
  <PresentationFormat>Widescreen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ResultSystem</vt:lpstr>
      <vt:lpstr>PowerPoint Presentation</vt:lpstr>
      <vt:lpstr>Project Recap</vt:lpstr>
      <vt:lpstr>Modules Completed So Far</vt:lpstr>
      <vt:lpstr>Student Class: Code Explained</vt:lpstr>
      <vt:lpstr>Grading Logic: UG vs PG</vt:lpstr>
      <vt:lpstr>How main() Works</vt:lpstr>
      <vt:lpstr>C++ Concepts Demonstrated</vt:lpstr>
      <vt:lpstr>Program Output (Sample Run)</vt:lpstr>
      <vt:lpstr>Each Member's Contribution</vt:lpstr>
      <vt:lpstr>Progress and 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Result System - Review 2</dc:title>
  <dc:subject>PptxGenJS Presentation</dc:subject>
  <dc:creator>PptxGenJS</dc:creator>
  <cp:lastModifiedBy>LAKSHMANA MAJJI</cp:lastModifiedBy>
  <cp:revision>2</cp:revision>
  <dcterms:created xsi:type="dcterms:W3CDTF">2026-10-07T08:41:18Z</dcterms:created>
  <dcterms:modified xsi:type="dcterms:W3CDTF">2026-10-07T08:44:52Z</dcterms:modified>
</cp:coreProperties>
</file>